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9144000"/>
  <p:notesSz cx="6858000" cy="9144000"/>
  <p:embeddedFontLst>
    <p:embeddedFont>
      <p:font typeface="Arial Black"/>
      <p:regular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gd/bEDuoVB5zJt1DsxtmGFQoDU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2417DE-89C2-4168-86D9-3D6770DAC5E1}">
  <a:tblStyle styleId="{DA2417DE-89C2-4168-86D9-3D6770DAC5E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ArialBlack-regular.fnt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 name="Shape 20"/>
        <p:cNvGrpSpPr/>
        <p:nvPr/>
      </p:nvGrpSpPr>
      <p:grpSpPr>
        <a:xfrm>
          <a:off x="0" y="0"/>
          <a:ext cx="0" cy="0"/>
          <a:chOff x="0" y="0"/>
          <a:chExt cx="0" cy="0"/>
        </a:xfrm>
      </p:grpSpPr>
      <p:sp>
        <p:nvSpPr>
          <p:cNvPr id="21" name="Google Shape;21;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advTm="4000">
    <p:cut/>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pic>
        <p:nvPicPr>
          <p:cNvPr descr="LOGO.gif" id="25" name="Google Shape;25;p15"/>
          <p:cNvPicPr preferRelativeResize="0"/>
          <p:nvPr/>
        </p:nvPicPr>
        <p:blipFill rotWithShape="1">
          <a:blip r:embed="rId2">
            <a:alphaModFix/>
          </a:blip>
          <a:srcRect b="10713" l="0" r="0" t="0"/>
          <a:stretch/>
        </p:blipFill>
        <p:spPr>
          <a:xfrm>
            <a:off x="6553200" y="228600"/>
            <a:ext cx="2057400" cy="635000"/>
          </a:xfrm>
          <a:prstGeom prst="rect">
            <a:avLst/>
          </a:prstGeom>
          <a:noFill/>
          <a:ln>
            <a:noFill/>
          </a:ln>
        </p:spPr>
      </p:pic>
      <p:grpSp>
        <p:nvGrpSpPr>
          <p:cNvPr id="26" name="Google Shape;26;p15"/>
          <p:cNvGrpSpPr/>
          <p:nvPr/>
        </p:nvGrpSpPr>
        <p:grpSpPr>
          <a:xfrm>
            <a:off x="6146800" y="0"/>
            <a:ext cx="2997200" cy="876300"/>
            <a:chOff x="6096000" y="3924300"/>
            <a:chExt cx="2997200" cy="876300"/>
          </a:xfrm>
        </p:grpSpPr>
        <p:sp>
          <p:nvSpPr>
            <p:cNvPr id="27" name="Google Shape;27;p15"/>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OGO.gif" id="28" name="Google Shape;28;p15"/>
            <p:cNvPicPr preferRelativeResize="0"/>
            <p:nvPr/>
          </p:nvPicPr>
          <p:blipFill rotWithShape="1">
            <a:blip r:embed="rId2">
              <a:alphaModFix/>
            </a:blip>
            <a:srcRect b="10713" l="0" r="0" t="0"/>
            <a:stretch/>
          </p:blipFill>
          <p:spPr>
            <a:xfrm>
              <a:off x="6502400" y="4152900"/>
              <a:ext cx="2057400" cy="635000"/>
            </a:xfrm>
            <a:prstGeom prst="rect">
              <a:avLst/>
            </a:prstGeom>
            <a:noFill/>
            <a:ln>
              <a:noFill/>
            </a:ln>
          </p:spPr>
        </p:pic>
        <p:sp>
          <p:nvSpPr>
            <p:cNvPr id="29" name="Google Shape;29;p15"/>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pic>
        <p:nvPicPr>
          <p:cNvPr descr="logo.jpg" id="30" name="Google Shape;30;p15"/>
          <p:cNvPicPr preferRelativeResize="0"/>
          <p:nvPr/>
        </p:nvPicPr>
        <p:blipFill rotWithShape="1">
          <a:blip r:embed="rId3">
            <a:alphaModFix/>
          </a:blip>
          <a:srcRect b="0" l="0" r="0" t="0"/>
          <a:stretch/>
        </p:blipFill>
        <p:spPr>
          <a:xfrm>
            <a:off x="6553200" y="228600"/>
            <a:ext cx="1920875" cy="609600"/>
          </a:xfrm>
          <a:prstGeom prst="rect">
            <a:avLst/>
          </a:prstGeom>
          <a:noFill/>
          <a:ln>
            <a:noFill/>
          </a:ln>
        </p:spPr>
      </p:pic>
      <p:sp>
        <p:nvSpPr>
          <p:cNvPr id="31" name="Google Shape;31;p15"/>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3200">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 name="Google Shape;32;p15"/>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lvl1pPr indent="-368300" lvl="0" marL="457200" algn="l">
              <a:spcBef>
                <a:spcPts val="440"/>
              </a:spcBef>
              <a:spcAft>
                <a:spcPts val="0"/>
              </a:spcAft>
              <a:buClr>
                <a:schemeClr val="dk1"/>
              </a:buClr>
              <a:buSzPts val="2200"/>
              <a:buChar char="•"/>
              <a:defRPr sz="2200">
                <a:latin typeface="Times New Roman"/>
                <a:ea typeface="Times New Roman"/>
                <a:cs typeface="Times New Roman"/>
                <a:sym typeface="Times New Roman"/>
              </a:defRPr>
            </a:lvl1pPr>
            <a:lvl2pPr indent="-368300" lvl="1" marL="914400" algn="l">
              <a:spcBef>
                <a:spcPts val="440"/>
              </a:spcBef>
              <a:spcAft>
                <a:spcPts val="0"/>
              </a:spcAft>
              <a:buClr>
                <a:schemeClr val="dk1"/>
              </a:buClr>
              <a:buSzPts val="2200"/>
              <a:buChar char="–"/>
              <a:defRPr sz="2200">
                <a:latin typeface="Times New Roman"/>
                <a:ea typeface="Times New Roman"/>
                <a:cs typeface="Times New Roman"/>
                <a:sym typeface="Times New Roman"/>
              </a:defRPr>
            </a:lvl2pPr>
            <a:lvl3pPr indent="-368300" lvl="2" marL="1371600" algn="l">
              <a:spcBef>
                <a:spcPts val="440"/>
              </a:spcBef>
              <a:spcAft>
                <a:spcPts val="0"/>
              </a:spcAft>
              <a:buClr>
                <a:schemeClr val="dk1"/>
              </a:buClr>
              <a:buSzPts val="2200"/>
              <a:buChar char="•"/>
              <a:defRPr sz="2200">
                <a:latin typeface="Times New Roman"/>
                <a:ea typeface="Times New Roman"/>
                <a:cs typeface="Times New Roman"/>
                <a:sym typeface="Times New Roman"/>
              </a:defRPr>
            </a:lvl3pPr>
            <a:lvl4pPr indent="-368300" lvl="3" marL="1828800" algn="l">
              <a:spcBef>
                <a:spcPts val="440"/>
              </a:spcBef>
              <a:spcAft>
                <a:spcPts val="0"/>
              </a:spcAft>
              <a:buClr>
                <a:schemeClr val="dk1"/>
              </a:buClr>
              <a:buSzPts val="2200"/>
              <a:buChar char="–"/>
              <a:defRPr sz="2200">
                <a:latin typeface="Times New Roman"/>
                <a:ea typeface="Times New Roman"/>
                <a:cs typeface="Times New Roman"/>
                <a:sym typeface="Times New Roman"/>
              </a:defRPr>
            </a:lvl4pPr>
            <a:lvl5pPr indent="-368300" lvl="4" marL="2286000" algn="l">
              <a:spcBef>
                <a:spcPts val="440"/>
              </a:spcBef>
              <a:spcAft>
                <a:spcPts val="0"/>
              </a:spcAft>
              <a:buClr>
                <a:schemeClr val="dk1"/>
              </a:buClr>
              <a:buSzPts val="2200"/>
              <a:buChar char="»"/>
              <a:defRPr sz="2200">
                <a:latin typeface="Times New Roman"/>
                <a:ea typeface="Times New Roman"/>
                <a:cs typeface="Times New Roman"/>
                <a:sym typeface="Times New Roman"/>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3" name="Google Shape;33;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200">
                <a:solidFill>
                  <a:srgbClr val="0070C0"/>
                </a:solidFill>
                <a:latin typeface="Times New Roman"/>
                <a:ea typeface="Times New Roman"/>
                <a:cs typeface="Times New Roman"/>
                <a:sym typeface="Times New Roman"/>
              </a:defRPr>
            </a:lvl1pPr>
            <a:lvl2pPr indent="0" lvl="1" marL="0" algn="r">
              <a:spcBef>
                <a:spcPts val="0"/>
              </a:spcBef>
              <a:buNone/>
              <a:defRPr b="1" sz="1200">
                <a:solidFill>
                  <a:srgbClr val="0070C0"/>
                </a:solidFill>
                <a:latin typeface="Times New Roman"/>
                <a:ea typeface="Times New Roman"/>
                <a:cs typeface="Times New Roman"/>
                <a:sym typeface="Times New Roman"/>
              </a:defRPr>
            </a:lvl2pPr>
            <a:lvl3pPr indent="0" lvl="2" marL="0" algn="r">
              <a:spcBef>
                <a:spcPts val="0"/>
              </a:spcBef>
              <a:buNone/>
              <a:defRPr b="1" sz="1200">
                <a:solidFill>
                  <a:srgbClr val="0070C0"/>
                </a:solidFill>
                <a:latin typeface="Times New Roman"/>
                <a:ea typeface="Times New Roman"/>
                <a:cs typeface="Times New Roman"/>
                <a:sym typeface="Times New Roman"/>
              </a:defRPr>
            </a:lvl3pPr>
            <a:lvl4pPr indent="0" lvl="3" marL="0" algn="r">
              <a:spcBef>
                <a:spcPts val="0"/>
              </a:spcBef>
              <a:buNone/>
              <a:defRPr b="1" sz="1200">
                <a:solidFill>
                  <a:srgbClr val="0070C0"/>
                </a:solidFill>
                <a:latin typeface="Times New Roman"/>
                <a:ea typeface="Times New Roman"/>
                <a:cs typeface="Times New Roman"/>
                <a:sym typeface="Times New Roman"/>
              </a:defRPr>
            </a:lvl4pPr>
            <a:lvl5pPr indent="0" lvl="4" marL="0" algn="r">
              <a:spcBef>
                <a:spcPts val="0"/>
              </a:spcBef>
              <a:buNone/>
              <a:defRPr b="1" sz="1200">
                <a:solidFill>
                  <a:srgbClr val="0070C0"/>
                </a:solidFill>
                <a:latin typeface="Times New Roman"/>
                <a:ea typeface="Times New Roman"/>
                <a:cs typeface="Times New Roman"/>
                <a:sym typeface="Times New Roman"/>
              </a:defRPr>
            </a:lvl5pPr>
            <a:lvl6pPr indent="0" lvl="5" marL="0" algn="r">
              <a:spcBef>
                <a:spcPts val="0"/>
              </a:spcBef>
              <a:buNone/>
              <a:defRPr b="1" sz="1200">
                <a:solidFill>
                  <a:srgbClr val="0070C0"/>
                </a:solidFill>
                <a:latin typeface="Times New Roman"/>
                <a:ea typeface="Times New Roman"/>
                <a:cs typeface="Times New Roman"/>
                <a:sym typeface="Times New Roman"/>
              </a:defRPr>
            </a:lvl6pPr>
            <a:lvl7pPr indent="0" lvl="6" marL="0" algn="r">
              <a:spcBef>
                <a:spcPts val="0"/>
              </a:spcBef>
              <a:buNone/>
              <a:defRPr b="1" sz="1200">
                <a:solidFill>
                  <a:srgbClr val="0070C0"/>
                </a:solidFill>
                <a:latin typeface="Times New Roman"/>
                <a:ea typeface="Times New Roman"/>
                <a:cs typeface="Times New Roman"/>
                <a:sym typeface="Times New Roman"/>
              </a:defRPr>
            </a:lvl7pPr>
            <a:lvl8pPr indent="0" lvl="7" marL="0" algn="r">
              <a:spcBef>
                <a:spcPts val="0"/>
              </a:spcBef>
              <a:buNone/>
              <a:defRPr b="1" sz="1200">
                <a:solidFill>
                  <a:srgbClr val="0070C0"/>
                </a:solidFill>
                <a:latin typeface="Times New Roman"/>
                <a:ea typeface="Times New Roman"/>
                <a:cs typeface="Times New Roman"/>
                <a:sym typeface="Times New Roman"/>
              </a:defRPr>
            </a:lvl8pPr>
            <a:lvl9pPr indent="0" lvl="8" marL="0" algn="r">
              <a:spcBef>
                <a:spcPts val="0"/>
              </a:spcBef>
              <a:buNone/>
              <a:defRPr b="1" sz="1200">
                <a:solidFill>
                  <a:srgbClr val="0070C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advTm="4000">
    <p:cut/>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6" name="Shape 36"/>
        <p:cNvGrpSpPr/>
        <p:nvPr/>
      </p:nvGrpSpPr>
      <p:grpSpPr>
        <a:xfrm>
          <a:off x="0" y="0"/>
          <a:ext cx="0" cy="0"/>
          <a:chOff x="0" y="0"/>
          <a:chExt cx="0" cy="0"/>
        </a:xfrm>
      </p:grpSpPr>
      <p:sp>
        <p:nvSpPr>
          <p:cNvPr id="37" name="Google Shape;37;p16"/>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b="1" sz="3200">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16"/>
          <p:cNvSpPr txBox="1"/>
          <p:nvPr>
            <p:ph idx="1" type="subTitle"/>
          </p:nvPr>
        </p:nvSpPr>
        <p:spPr>
          <a:xfrm>
            <a:off x="533400" y="1371600"/>
            <a:ext cx="8153400" cy="47244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39" name="Google Shape;39;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200">
                <a:solidFill>
                  <a:srgbClr val="0070C0"/>
                </a:solidFill>
                <a:latin typeface="Times New Roman"/>
                <a:ea typeface="Times New Roman"/>
                <a:cs typeface="Times New Roman"/>
                <a:sym typeface="Times New Roman"/>
              </a:defRPr>
            </a:lvl1pPr>
            <a:lvl2pPr indent="0" lvl="1" marL="0" algn="r">
              <a:spcBef>
                <a:spcPts val="0"/>
              </a:spcBef>
              <a:buNone/>
              <a:defRPr b="1" sz="1200">
                <a:solidFill>
                  <a:srgbClr val="0070C0"/>
                </a:solidFill>
                <a:latin typeface="Times New Roman"/>
                <a:ea typeface="Times New Roman"/>
                <a:cs typeface="Times New Roman"/>
                <a:sym typeface="Times New Roman"/>
              </a:defRPr>
            </a:lvl2pPr>
            <a:lvl3pPr indent="0" lvl="2" marL="0" algn="r">
              <a:spcBef>
                <a:spcPts val="0"/>
              </a:spcBef>
              <a:buNone/>
              <a:defRPr b="1" sz="1200">
                <a:solidFill>
                  <a:srgbClr val="0070C0"/>
                </a:solidFill>
                <a:latin typeface="Times New Roman"/>
                <a:ea typeface="Times New Roman"/>
                <a:cs typeface="Times New Roman"/>
                <a:sym typeface="Times New Roman"/>
              </a:defRPr>
            </a:lvl3pPr>
            <a:lvl4pPr indent="0" lvl="3" marL="0" algn="r">
              <a:spcBef>
                <a:spcPts val="0"/>
              </a:spcBef>
              <a:buNone/>
              <a:defRPr b="1" sz="1200">
                <a:solidFill>
                  <a:srgbClr val="0070C0"/>
                </a:solidFill>
                <a:latin typeface="Times New Roman"/>
                <a:ea typeface="Times New Roman"/>
                <a:cs typeface="Times New Roman"/>
                <a:sym typeface="Times New Roman"/>
              </a:defRPr>
            </a:lvl4pPr>
            <a:lvl5pPr indent="0" lvl="4" marL="0" algn="r">
              <a:spcBef>
                <a:spcPts val="0"/>
              </a:spcBef>
              <a:buNone/>
              <a:defRPr b="1" sz="1200">
                <a:solidFill>
                  <a:srgbClr val="0070C0"/>
                </a:solidFill>
                <a:latin typeface="Times New Roman"/>
                <a:ea typeface="Times New Roman"/>
                <a:cs typeface="Times New Roman"/>
                <a:sym typeface="Times New Roman"/>
              </a:defRPr>
            </a:lvl5pPr>
            <a:lvl6pPr indent="0" lvl="5" marL="0" algn="r">
              <a:spcBef>
                <a:spcPts val="0"/>
              </a:spcBef>
              <a:buNone/>
              <a:defRPr b="1" sz="1200">
                <a:solidFill>
                  <a:srgbClr val="0070C0"/>
                </a:solidFill>
                <a:latin typeface="Times New Roman"/>
                <a:ea typeface="Times New Roman"/>
                <a:cs typeface="Times New Roman"/>
                <a:sym typeface="Times New Roman"/>
              </a:defRPr>
            </a:lvl6pPr>
            <a:lvl7pPr indent="0" lvl="6" marL="0" algn="r">
              <a:spcBef>
                <a:spcPts val="0"/>
              </a:spcBef>
              <a:buNone/>
              <a:defRPr b="1" sz="1200">
                <a:solidFill>
                  <a:srgbClr val="0070C0"/>
                </a:solidFill>
                <a:latin typeface="Times New Roman"/>
                <a:ea typeface="Times New Roman"/>
                <a:cs typeface="Times New Roman"/>
                <a:sym typeface="Times New Roman"/>
              </a:defRPr>
            </a:lvl7pPr>
            <a:lvl8pPr indent="0" lvl="7" marL="0" algn="r">
              <a:spcBef>
                <a:spcPts val="0"/>
              </a:spcBef>
              <a:buNone/>
              <a:defRPr b="1" sz="1200">
                <a:solidFill>
                  <a:srgbClr val="0070C0"/>
                </a:solidFill>
                <a:latin typeface="Times New Roman"/>
                <a:ea typeface="Times New Roman"/>
                <a:cs typeface="Times New Roman"/>
                <a:sym typeface="Times New Roman"/>
              </a:defRPr>
            </a:lvl8pPr>
            <a:lvl9pPr indent="0" lvl="8" marL="0" algn="r">
              <a:spcBef>
                <a:spcPts val="0"/>
              </a:spcBef>
              <a:buNone/>
              <a:defRPr b="1" sz="1200">
                <a:solidFill>
                  <a:srgbClr val="0070C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advTm="4000">
    <p:cut/>
  </p:transition>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1.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3000" u="none" cap="none" strike="noStrike">
                <a:solidFill>
                  <a:schemeClr val="dk1"/>
                </a:solidFill>
                <a:latin typeface="Calibri"/>
                <a:ea typeface="Calibri"/>
                <a:cs typeface="Calibri"/>
                <a:sym typeface="Calibri"/>
              </a:defRPr>
            </a:lvl9pPr>
          </a:lstStyle>
          <a:p/>
        </p:txBody>
      </p:sp>
      <p:sp>
        <p:nvSpPr>
          <p:cNvPr id="7" name="Google Shape;7;p13"/>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0070C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0070C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200" u="none" cap="none" strike="noStrike">
                <a:solidFill>
                  <a:srgbClr val="0070C0"/>
                </a:solidFill>
                <a:latin typeface="Times New Roman"/>
                <a:ea typeface="Times New Roman"/>
                <a:cs typeface="Times New Roman"/>
                <a:sym typeface="Times New Roman"/>
              </a:defRPr>
            </a:lvl1pPr>
            <a:lvl2pPr indent="0" lvl="1" marL="0" marR="0" rtl="0" algn="r">
              <a:spcBef>
                <a:spcPts val="0"/>
              </a:spcBef>
              <a:buNone/>
              <a:defRPr b="1" i="0" sz="1200" u="none" cap="none" strike="noStrike">
                <a:solidFill>
                  <a:srgbClr val="0070C0"/>
                </a:solidFill>
                <a:latin typeface="Times New Roman"/>
                <a:ea typeface="Times New Roman"/>
                <a:cs typeface="Times New Roman"/>
                <a:sym typeface="Times New Roman"/>
              </a:defRPr>
            </a:lvl2pPr>
            <a:lvl3pPr indent="0" lvl="2" marL="0" marR="0" rtl="0" algn="r">
              <a:spcBef>
                <a:spcPts val="0"/>
              </a:spcBef>
              <a:buNone/>
              <a:defRPr b="1" i="0" sz="1200" u="none" cap="none" strike="noStrike">
                <a:solidFill>
                  <a:srgbClr val="0070C0"/>
                </a:solidFill>
                <a:latin typeface="Times New Roman"/>
                <a:ea typeface="Times New Roman"/>
                <a:cs typeface="Times New Roman"/>
                <a:sym typeface="Times New Roman"/>
              </a:defRPr>
            </a:lvl3pPr>
            <a:lvl4pPr indent="0" lvl="3" marL="0" marR="0" rtl="0" algn="r">
              <a:spcBef>
                <a:spcPts val="0"/>
              </a:spcBef>
              <a:buNone/>
              <a:defRPr b="1" i="0" sz="1200" u="none" cap="none" strike="noStrike">
                <a:solidFill>
                  <a:srgbClr val="0070C0"/>
                </a:solidFill>
                <a:latin typeface="Times New Roman"/>
                <a:ea typeface="Times New Roman"/>
                <a:cs typeface="Times New Roman"/>
                <a:sym typeface="Times New Roman"/>
              </a:defRPr>
            </a:lvl4pPr>
            <a:lvl5pPr indent="0" lvl="4" marL="0" marR="0" rtl="0" algn="r">
              <a:spcBef>
                <a:spcPts val="0"/>
              </a:spcBef>
              <a:buNone/>
              <a:defRPr b="1" i="0" sz="1200" u="none" cap="none" strike="noStrike">
                <a:solidFill>
                  <a:srgbClr val="0070C0"/>
                </a:solidFill>
                <a:latin typeface="Times New Roman"/>
                <a:ea typeface="Times New Roman"/>
                <a:cs typeface="Times New Roman"/>
                <a:sym typeface="Times New Roman"/>
              </a:defRPr>
            </a:lvl5pPr>
            <a:lvl6pPr indent="0" lvl="5" marL="0" marR="0" rtl="0" algn="r">
              <a:spcBef>
                <a:spcPts val="0"/>
              </a:spcBef>
              <a:buNone/>
              <a:defRPr b="1" i="0" sz="1200" u="none" cap="none" strike="noStrike">
                <a:solidFill>
                  <a:srgbClr val="0070C0"/>
                </a:solidFill>
                <a:latin typeface="Times New Roman"/>
                <a:ea typeface="Times New Roman"/>
                <a:cs typeface="Times New Roman"/>
                <a:sym typeface="Times New Roman"/>
              </a:defRPr>
            </a:lvl6pPr>
            <a:lvl7pPr indent="0" lvl="6" marL="0" marR="0" rtl="0" algn="r">
              <a:spcBef>
                <a:spcPts val="0"/>
              </a:spcBef>
              <a:buNone/>
              <a:defRPr b="1" i="0" sz="1200" u="none" cap="none" strike="noStrike">
                <a:solidFill>
                  <a:srgbClr val="0070C0"/>
                </a:solidFill>
                <a:latin typeface="Times New Roman"/>
                <a:ea typeface="Times New Roman"/>
                <a:cs typeface="Times New Roman"/>
                <a:sym typeface="Times New Roman"/>
              </a:defRPr>
            </a:lvl7pPr>
            <a:lvl8pPr indent="0" lvl="7" marL="0" marR="0" rtl="0" algn="r">
              <a:spcBef>
                <a:spcPts val="0"/>
              </a:spcBef>
              <a:buNone/>
              <a:defRPr b="1" i="0" sz="1200" u="none" cap="none" strike="noStrike">
                <a:solidFill>
                  <a:srgbClr val="0070C0"/>
                </a:solidFill>
                <a:latin typeface="Times New Roman"/>
                <a:ea typeface="Times New Roman"/>
                <a:cs typeface="Times New Roman"/>
                <a:sym typeface="Times New Roman"/>
              </a:defRPr>
            </a:lvl8pPr>
            <a:lvl9pPr indent="0" lvl="8" marL="0" marR="0" rtl="0" algn="r">
              <a:spcBef>
                <a:spcPts val="0"/>
              </a:spcBef>
              <a:buNone/>
              <a:defRPr b="1" i="0" sz="1200" u="none" cap="none" strike="noStrike">
                <a:solidFill>
                  <a:srgbClr val="0070C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11" name="Google Shape;11;p13"/>
          <p:cNvSpPr/>
          <p:nvPr/>
        </p:nvSpPr>
        <p:spPr>
          <a:xfrm>
            <a:off x="0" y="0"/>
            <a:ext cx="91440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 name="Google Shape;12;p13"/>
          <p:cNvSpPr/>
          <p:nvPr/>
        </p:nvSpPr>
        <p:spPr>
          <a:xfrm flipH="1" rot="10800000">
            <a:off x="0" y="6705600"/>
            <a:ext cx="9144000" cy="19811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OGO.gif" id="13" name="Google Shape;13;p13"/>
          <p:cNvPicPr preferRelativeResize="0"/>
          <p:nvPr/>
        </p:nvPicPr>
        <p:blipFill rotWithShape="1">
          <a:blip r:embed="rId1">
            <a:alphaModFix/>
          </a:blip>
          <a:srcRect b="10713" l="0" r="0" t="0"/>
          <a:stretch/>
        </p:blipFill>
        <p:spPr>
          <a:xfrm>
            <a:off x="6553200" y="228600"/>
            <a:ext cx="2057400" cy="635000"/>
          </a:xfrm>
          <a:prstGeom prst="rect">
            <a:avLst/>
          </a:prstGeom>
          <a:noFill/>
          <a:ln>
            <a:noFill/>
          </a:ln>
        </p:spPr>
      </p:pic>
      <p:pic>
        <p:nvPicPr>
          <p:cNvPr descr="LOGO.gif" id="14" name="Google Shape;14;p13"/>
          <p:cNvPicPr preferRelativeResize="0"/>
          <p:nvPr/>
        </p:nvPicPr>
        <p:blipFill rotWithShape="1">
          <a:blip r:embed="rId1">
            <a:alphaModFix/>
          </a:blip>
          <a:srcRect b="10713" l="0" r="0" t="0"/>
          <a:stretch/>
        </p:blipFill>
        <p:spPr>
          <a:xfrm>
            <a:off x="6553200" y="228600"/>
            <a:ext cx="2057400" cy="635000"/>
          </a:xfrm>
          <a:prstGeom prst="rect">
            <a:avLst/>
          </a:prstGeom>
          <a:noFill/>
          <a:ln>
            <a:noFill/>
          </a:ln>
        </p:spPr>
      </p:pic>
      <p:grpSp>
        <p:nvGrpSpPr>
          <p:cNvPr id="15" name="Google Shape;15;p13"/>
          <p:cNvGrpSpPr/>
          <p:nvPr/>
        </p:nvGrpSpPr>
        <p:grpSpPr>
          <a:xfrm>
            <a:off x="6146800" y="0"/>
            <a:ext cx="2997200" cy="876300"/>
            <a:chOff x="6096000" y="3924300"/>
            <a:chExt cx="2997200" cy="876300"/>
          </a:xfrm>
        </p:grpSpPr>
        <p:sp>
          <p:nvSpPr>
            <p:cNvPr id="16" name="Google Shape;16;p13"/>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LOGO.gif" id="17" name="Google Shape;17;p13"/>
            <p:cNvPicPr preferRelativeResize="0"/>
            <p:nvPr/>
          </p:nvPicPr>
          <p:blipFill rotWithShape="1">
            <a:blip r:embed="rId1">
              <a:alphaModFix/>
            </a:blip>
            <a:srcRect b="10713" l="0" r="0" t="0"/>
            <a:stretch/>
          </p:blipFill>
          <p:spPr>
            <a:xfrm>
              <a:off x="6502400" y="4152900"/>
              <a:ext cx="2057400" cy="635000"/>
            </a:xfrm>
            <a:prstGeom prst="rect">
              <a:avLst/>
            </a:prstGeom>
            <a:noFill/>
            <a:ln>
              <a:noFill/>
            </a:ln>
          </p:spPr>
        </p:pic>
        <p:sp>
          <p:nvSpPr>
            <p:cNvPr id="18" name="Google Shape;18;p13"/>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pic>
        <p:nvPicPr>
          <p:cNvPr descr="logo.jpg" id="19" name="Google Shape;19;p13"/>
          <p:cNvPicPr preferRelativeResize="0"/>
          <p:nvPr/>
        </p:nvPicPr>
        <p:blipFill rotWithShape="1">
          <a:blip r:embed="rId2">
            <a:alphaModFix/>
          </a:blip>
          <a:srcRect b="0" l="0" r="0" t="0"/>
          <a:stretch/>
        </p:blipFill>
        <p:spPr>
          <a:xfrm>
            <a:off x="6553200" y="228600"/>
            <a:ext cx="1920875" cy="6096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Lst>
  <p:transition advTm="4000">
    <p:cut/>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
          <p:cNvSpPr txBox="1"/>
          <p:nvPr/>
        </p:nvSpPr>
        <p:spPr>
          <a:xfrm>
            <a:off x="1043608" y="1583504"/>
            <a:ext cx="75609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FF0000"/>
                </a:solidFill>
                <a:latin typeface="Arial Black"/>
                <a:ea typeface="Arial Black"/>
                <a:cs typeface="Arial Black"/>
                <a:sym typeface="Arial Black"/>
              </a:rPr>
              <a:t>Assignment-II</a:t>
            </a:r>
            <a:endParaRPr sz="2400">
              <a:solidFill>
                <a:srgbClr val="FF0000"/>
              </a:solidFill>
              <a:latin typeface="Arial Black"/>
              <a:ea typeface="Arial Black"/>
              <a:cs typeface="Arial Black"/>
              <a:sym typeface="Arial Black"/>
            </a:endParaRPr>
          </a:p>
          <a:p>
            <a:pPr indent="0" lvl="0" marL="0" marR="0" rtl="0" algn="ctr">
              <a:spcBef>
                <a:spcPts val="0"/>
              </a:spcBef>
              <a:spcAft>
                <a:spcPts val="0"/>
              </a:spcAft>
              <a:buNone/>
            </a:pPr>
            <a:r>
              <a:rPr lang="en-US" sz="2400">
                <a:solidFill>
                  <a:srgbClr val="FF0000"/>
                </a:solidFill>
                <a:latin typeface="Arial Black"/>
                <a:ea typeface="Arial Black"/>
                <a:cs typeface="Arial Black"/>
                <a:sym typeface="Arial Black"/>
              </a:rPr>
              <a:t>AUCTION WEBSITE</a:t>
            </a:r>
            <a:endParaRPr sz="2400">
              <a:solidFill>
                <a:srgbClr val="FF0000"/>
              </a:solidFill>
              <a:latin typeface="Arial Black"/>
              <a:ea typeface="Arial Black"/>
              <a:cs typeface="Arial Black"/>
              <a:sym typeface="Arial Black"/>
            </a:endParaRPr>
          </a:p>
        </p:txBody>
      </p:sp>
      <p:sp>
        <p:nvSpPr>
          <p:cNvPr id="47" name="Google Shape;47;p1"/>
          <p:cNvSpPr txBox="1"/>
          <p:nvPr/>
        </p:nvSpPr>
        <p:spPr>
          <a:xfrm>
            <a:off x="3275856" y="4653136"/>
            <a:ext cx="184731"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 name="Google Shape;48;p1"/>
          <p:cNvSpPr txBox="1"/>
          <p:nvPr/>
        </p:nvSpPr>
        <p:spPr>
          <a:xfrm>
            <a:off x="2267744" y="2852936"/>
            <a:ext cx="5112568" cy="147732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AKANSHA</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2310993769</a:t>
            </a:r>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Submitted to:</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Dr. Swati Malik</a:t>
            </a:r>
            <a:endParaRPr/>
          </a:p>
        </p:txBody>
      </p:sp>
      <p:sp>
        <p:nvSpPr>
          <p:cNvPr id="49" name="Google Shape;49;p1"/>
          <p:cNvSpPr txBox="1"/>
          <p:nvPr/>
        </p:nvSpPr>
        <p:spPr>
          <a:xfrm>
            <a:off x="1187624" y="5661248"/>
            <a:ext cx="6947095"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Chitkara University Institute of Engineering and Technology, </a:t>
            </a:r>
            <a:endParaRPr/>
          </a:p>
          <a:p>
            <a:pPr indent="0" lvl="0" marL="0" marR="0" rtl="0" algn="ctr">
              <a:spcBef>
                <a:spcPts val="0"/>
              </a:spcBef>
              <a:spcAft>
                <a:spcPts val="0"/>
              </a:spcAft>
              <a:buNone/>
            </a:pPr>
            <a:r>
              <a:rPr b="1" lang="en-US" sz="2000">
                <a:solidFill>
                  <a:srgbClr val="FF0000"/>
                </a:solidFill>
                <a:latin typeface="Times New Roman"/>
                <a:ea typeface="Times New Roman"/>
                <a:cs typeface="Times New Roman"/>
                <a:sym typeface="Times New Roman"/>
              </a:rPr>
              <a:t>Chitkara University, Punjab</a:t>
            </a:r>
            <a:endParaRPr/>
          </a:p>
        </p:txBody>
      </p:sp>
    </p:spTree>
  </p:cSld>
  <p:clrMapOvr>
    <a:masterClrMapping/>
  </p:clrMapOvr>
  <p:transition advTm="4000">
    <p:cu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2"/>
          <p:cNvSpPr txBox="1"/>
          <p:nvPr/>
        </p:nvSpPr>
        <p:spPr>
          <a:xfrm>
            <a:off x="467544" y="260648"/>
            <a:ext cx="54006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Table of Contents</a:t>
            </a:r>
            <a:endParaRPr b="1" sz="1800">
              <a:solidFill>
                <a:schemeClr val="dk1"/>
              </a:solidFill>
              <a:latin typeface="Times New Roman"/>
              <a:ea typeface="Times New Roman"/>
              <a:cs typeface="Times New Roman"/>
              <a:sym typeface="Times New Roman"/>
            </a:endParaRPr>
          </a:p>
        </p:txBody>
      </p:sp>
      <p:graphicFrame>
        <p:nvGraphicFramePr>
          <p:cNvPr id="55" name="Google Shape;55;p2"/>
          <p:cNvGraphicFramePr/>
          <p:nvPr/>
        </p:nvGraphicFramePr>
        <p:xfrm>
          <a:off x="323528" y="1412776"/>
          <a:ext cx="3000000" cy="3000000"/>
        </p:xfrm>
        <a:graphic>
          <a:graphicData uri="http://schemas.openxmlformats.org/drawingml/2006/table">
            <a:tbl>
              <a:tblPr bandRow="1" firstCol="1" firstRow="1">
                <a:noFill/>
                <a:tableStyleId>{DA2417DE-89C2-4168-86D9-3D6770DAC5E1}</a:tableStyleId>
              </a:tblPr>
              <a:tblGrid>
                <a:gridCol w="8229600"/>
              </a:tblGrid>
              <a:tr h="228600">
                <a:tc>
                  <a:txBody>
                    <a:bodyPr/>
                    <a:lstStyle/>
                    <a:p>
                      <a:pPr indent="0" lvl="0" marL="0" marR="0" rtl="0" algn="l">
                        <a:lnSpc>
                          <a:spcPct val="150000"/>
                        </a:lnSpc>
                        <a:spcBef>
                          <a:spcPts val="0"/>
                        </a:spcBef>
                        <a:spcAft>
                          <a:spcPts val="0"/>
                        </a:spcAft>
                        <a:buNone/>
                      </a:pPr>
                      <a:r>
                        <a:rPr lang="en-US" sz="1800" u="none" cap="none" strike="noStrike">
                          <a:solidFill>
                            <a:schemeClr val="dk1"/>
                          </a:solidFill>
                        </a:rPr>
                        <a:t>Introduction</a:t>
                      </a:r>
                      <a:endParaRPr sz="1400" u="none" cap="none" strike="noStrike">
                        <a:solidFill>
                          <a:schemeClr val="dk1"/>
                        </a:solidFill>
                        <a:latin typeface="Calibri"/>
                        <a:ea typeface="Calibri"/>
                        <a:cs typeface="Calibri"/>
                        <a:sym typeface="Calibri"/>
                      </a:endParaRPr>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228600">
                <a:tc>
                  <a:txBody>
                    <a:bodyPr/>
                    <a:lstStyle/>
                    <a:p>
                      <a:pPr indent="0" lvl="0" marL="0" marR="0" rtl="0" algn="l">
                        <a:lnSpc>
                          <a:spcPct val="150000"/>
                        </a:lnSpc>
                        <a:spcBef>
                          <a:spcPts val="0"/>
                        </a:spcBef>
                        <a:spcAft>
                          <a:spcPts val="0"/>
                        </a:spcAft>
                        <a:buNone/>
                      </a:pPr>
                      <a:r>
                        <a:rPr lang="en-US" sz="1800" u="none" cap="none" strike="noStrike">
                          <a:solidFill>
                            <a:schemeClr val="dk1"/>
                          </a:solidFill>
                        </a:rPr>
                        <a:t>Methodology</a:t>
                      </a:r>
                      <a:endParaRPr sz="1400" u="none" cap="none" strike="noStrike">
                        <a:solidFill>
                          <a:schemeClr val="dk1"/>
                        </a:solidFill>
                        <a:latin typeface="Calibri"/>
                        <a:ea typeface="Calibri"/>
                        <a:cs typeface="Calibri"/>
                        <a:sym typeface="Calibri"/>
                      </a:endParaRPr>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228600">
                <a:tc>
                  <a:txBody>
                    <a:bodyPr/>
                    <a:lstStyle/>
                    <a:p>
                      <a:pPr indent="0" lvl="0" marL="0" marR="0" rtl="0" algn="l">
                        <a:lnSpc>
                          <a:spcPct val="150000"/>
                        </a:lnSpc>
                        <a:spcBef>
                          <a:spcPts val="0"/>
                        </a:spcBef>
                        <a:spcAft>
                          <a:spcPts val="0"/>
                        </a:spcAft>
                        <a:buNone/>
                      </a:pPr>
                      <a:r>
                        <a:rPr lang="en-US" sz="1800" u="none" cap="none" strike="noStrike">
                          <a:solidFill>
                            <a:schemeClr val="dk1"/>
                          </a:solidFill>
                        </a:rPr>
                        <a:t>Tools and Technologies</a:t>
                      </a:r>
                      <a:endParaRPr sz="1400" u="none" cap="none" strike="noStrike">
                        <a:solidFill>
                          <a:schemeClr val="dk1"/>
                        </a:solidFill>
                        <a:latin typeface="Calibri"/>
                        <a:ea typeface="Calibri"/>
                        <a:cs typeface="Calibri"/>
                        <a:sym typeface="Calibri"/>
                      </a:endParaRPr>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228600">
                <a:tc>
                  <a:txBody>
                    <a:bodyPr/>
                    <a:lstStyle/>
                    <a:p>
                      <a:pPr indent="0" lvl="0" marL="0" marR="0" rtl="0" algn="l">
                        <a:lnSpc>
                          <a:spcPct val="150000"/>
                        </a:lnSpc>
                        <a:spcBef>
                          <a:spcPts val="0"/>
                        </a:spcBef>
                        <a:spcAft>
                          <a:spcPts val="0"/>
                        </a:spcAft>
                        <a:buNone/>
                      </a:pPr>
                      <a:r>
                        <a:rPr lang="en-US" sz="1800" u="none" cap="none" strike="noStrike">
                          <a:solidFill>
                            <a:schemeClr val="dk1"/>
                          </a:solidFill>
                        </a:rPr>
                        <a:t>Major Findings/Outcomes/Output/Results</a:t>
                      </a:r>
                      <a:endParaRPr sz="1400" u="none" cap="none" strike="noStrike">
                        <a:solidFill>
                          <a:schemeClr val="dk1"/>
                        </a:solidFill>
                        <a:latin typeface="Calibri"/>
                        <a:ea typeface="Calibri"/>
                        <a:cs typeface="Calibri"/>
                        <a:sym typeface="Calibri"/>
                      </a:endParaRPr>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228600">
                <a:tc>
                  <a:txBody>
                    <a:bodyPr/>
                    <a:lstStyle/>
                    <a:p>
                      <a:pPr indent="0" lvl="0" marL="0" marR="0" rtl="0" algn="l">
                        <a:lnSpc>
                          <a:spcPct val="150000"/>
                        </a:lnSpc>
                        <a:spcBef>
                          <a:spcPts val="0"/>
                        </a:spcBef>
                        <a:spcAft>
                          <a:spcPts val="0"/>
                        </a:spcAft>
                        <a:buNone/>
                      </a:pPr>
                      <a:r>
                        <a:rPr lang="en-US" sz="1800" u="none" cap="none" strike="noStrike">
                          <a:solidFill>
                            <a:schemeClr val="dk1"/>
                          </a:solidFill>
                        </a:rPr>
                        <a:t>Conclusion and Future Scope</a:t>
                      </a:r>
                      <a:endParaRPr sz="1400" u="none" cap="none" strike="noStrike">
                        <a:solidFill>
                          <a:schemeClr val="dk1"/>
                        </a:solidFill>
                        <a:latin typeface="Calibri"/>
                        <a:ea typeface="Calibri"/>
                        <a:cs typeface="Calibri"/>
                        <a:sym typeface="Calibri"/>
                      </a:endParaRPr>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228600">
                <a:tc>
                  <a:txBody>
                    <a:bodyPr/>
                    <a:lstStyle/>
                    <a:p>
                      <a:pPr indent="0" lvl="0" marL="0" marR="0" rtl="0" algn="l">
                        <a:lnSpc>
                          <a:spcPct val="150000"/>
                        </a:lnSpc>
                        <a:spcBef>
                          <a:spcPts val="0"/>
                        </a:spcBef>
                        <a:spcAft>
                          <a:spcPts val="0"/>
                        </a:spcAft>
                        <a:buNone/>
                      </a:pPr>
                      <a:r>
                        <a:rPr lang="en-US" sz="1800" u="none" cap="none" strike="noStrike">
                          <a:solidFill>
                            <a:schemeClr val="dk1"/>
                          </a:solidFill>
                        </a:rPr>
                        <a:t>References</a:t>
                      </a:r>
                      <a:endParaRPr sz="1400" u="none" cap="none" strike="noStrike">
                        <a:solidFill>
                          <a:schemeClr val="dk1"/>
                        </a:solidFill>
                        <a:latin typeface="Calibri"/>
                        <a:ea typeface="Calibri"/>
                        <a:cs typeface="Calibri"/>
                        <a:sym typeface="Calibri"/>
                      </a:endParaRPr>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228600">
                <a:tc>
                  <a:txBody>
                    <a:bodyPr/>
                    <a:lstStyle/>
                    <a:p>
                      <a:pPr indent="0" lvl="0" marL="0" marR="0" rtl="0" algn="l">
                        <a:lnSpc>
                          <a:spcPct val="150000"/>
                        </a:lnSpc>
                        <a:spcBef>
                          <a:spcPts val="0"/>
                        </a:spcBef>
                        <a:spcAft>
                          <a:spcPts val="0"/>
                        </a:spcAft>
                        <a:buNone/>
                      </a:pPr>
                      <a:r>
                        <a:rPr lang="en-US" sz="1800" u="none" cap="none" strike="noStrike">
                          <a:solidFill>
                            <a:schemeClr val="dk1"/>
                          </a:solidFill>
                        </a:rPr>
                        <a:t>Appendices	</a:t>
                      </a:r>
                      <a:endParaRPr sz="1400" u="none" cap="none" strike="noStrike">
                        <a:solidFill>
                          <a:schemeClr val="dk1"/>
                        </a:solidFill>
                        <a:latin typeface="Calibri"/>
                        <a:ea typeface="Calibri"/>
                        <a:cs typeface="Calibri"/>
                        <a:sym typeface="Calibri"/>
                      </a:endParaRPr>
                    </a:p>
                  </a:txBody>
                  <a:tcPr marT="0" marB="0" marR="68575" marL="6857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bl>
          </a:graphicData>
        </a:graphic>
      </p:graphicFrame>
    </p:spTree>
  </p:cSld>
  <p:clrMapOvr>
    <a:masterClrMapping/>
  </p:clrMapOvr>
  <p:transition advTm="4000">
    <p:c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3"/>
          <p:cNvSpPr txBox="1"/>
          <p:nvPr/>
        </p:nvSpPr>
        <p:spPr>
          <a:xfrm>
            <a:off x="467544" y="260648"/>
            <a:ext cx="54006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Introduction</a:t>
            </a:r>
            <a:endParaRPr/>
          </a:p>
        </p:txBody>
      </p:sp>
      <p:sp>
        <p:nvSpPr>
          <p:cNvPr id="61" name="Google Shape;61;p3"/>
          <p:cNvSpPr/>
          <p:nvPr/>
        </p:nvSpPr>
        <p:spPr>
          <a:xfrm>
            <a:off x="107504" y="1196752"/>
            <a:ext cx="8640960" cy="4757136"/>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i="0" lang="en-US" sz="1400">
                <a:solidFill>
                  <a:srgbClr val="000000"/>
                </a:solidFill>
                <a:latin typeface="Calibri"/>
                <a:ea typeface="Calibri"/>
                <a:cs typeface="Calibri"/>
                <a:sym typeface="Calibri"/>
              </a:rPr>
              <a:t>In the age of digital innovation, education undergoes a profound transformation, propelled by the convergence of technology and pedagogy. The advent of the E-COMMERCE WEBSITE, underpinned by the versatile Django framework, heralds a new chapter in this evolution..</a:t>
            </a:r>
            <a:endParaRPr sz="14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i="0" lang="en-US" sz="1400">
                <a:solidFill>
                  <a:srgbClr val="000000"/>
                </a:solidFill>
                <a:latin typeface="Calibri"/>
                <a:ea typeface="Calibri"/>
                <a:cs typeface="Calibri"/>
                <a:sym typeface="Calibri"/>
              </a:rPr>
              <a:t>The essence of the E-commerce website lies in its simplicity and versatility. E-commerce application using Django involves several steps, each contributing to the development of a robust and functional  platform.</a:t>
            </a:r>
            <a:endParaRPr/>
          </a:p>
          <a:p>
            <a:pPr indent="0" lvl="0" marL="0" marR="0" rtl="0" algn="just">
              <a:lnSpc>
                <a:spcPct val="150000"/>
              </a:lnSpc>
              <a:spcBef>
                <a:spcPts val="800"/>
              </a:spcBef>
              <a:spcAft>
                <a:spcPts val="0"/>
              </a:spcAft>
              <a:buNone/>
            </a:pPr>
            <a:r>
              <a:rPr i="0" lang="en-US" sz="1400">
                <a:solidFill>
                  <a:srgbClr val="000000"/>
                </a:solidFill>
                <a:latin typeface="Calibri"/>
                <a:ea typeface="Calibri"/>
                <a:cs typeface="Calibri"/>
                <a:sym typeface="Calibri"/>
              </a:rPr>
              <a:t>By harnessing the capabilities of Django, it offers a scalable, customizable, and user-centric solution to the evolving needs of modern learners and educators. It provides the brief overview of Django as ahigh-level Python web framework. Django follows the Model-View-Template (MVT) architecture, facilitating the development of complex web applications like e-commerce platform.</a:t>
            </a:r>
            <a:endParaRPr/>
          </a:p>
          <a:p>
            <a:pPr indent="0" lvl="0" marL="0" marR="0" rtl="0" algn="just">
              <a:lnSpc>
                <a:spcPct val="150000"/>
              </a:lnSpc>
              <a:spcBef>
                <a:spcPts val="800"/>
              </a:spcBef>
              <a:spcAft>
                <a:spcPts val="0"/>
              </a:spcAft>
              <a:buNone/>
            </a:pPr>
            <a:r>
              <a:rPr lang="en-US" sz="1100">
                <a:solidFill>
                  <a:schemeClr val="dk1"/>
                </a:solidFill>
                <a:latin typeface="Calibri"/>
                <a:ea typeface="Calibri"/>
                <a:cs typeface="Calibri"/>
                <a:sym typeface="Calibri"/>
              </a:rPr>
              <a:t>Explain the role of views in handling user requests and rendering dynamic content. Discuss the use of Django templates for generating HTML output based on data passed from views. Illustrate how to create views and templates for displaying product listings, product details, shopping cart, and checkout pages.</a:t>
            </a:r>
            <a:endParaRPr/>
          </a:p>
          <a:p>
            <a:pPr indent="0" lvl="0" marL="0" marR="0" rtl="0" algn="just">
              <a:lnSpc>
                <a:spcPct val="150000"/>
              </a:lnSpc>
              <a:spcBef>
                <a:spcPts val="800"/>
              </a:spcBef>
              <a:spcAft>
                <a:spcPts val="0"/>
              </a:spcAft>
              <a:buNone/>
            </a:pPr>
            <a:r>
              <a:rPr lang="en-US" sz="1100">
                <a:solidFill>
                  <a:schemeClr val="dk1"/>
                </a:solidFill>
                <a:latin typeface="Calibri"/>
                <a:ea typeface="Calibri"/>
                <a:cs typeface="Calibri"/>
                <a:sym typeface="Calibri"/>
              </a:rPr>
              <a:t>Summarize the key points discussed in the report. Reflect on the significance of Django as a framework for developing e-commerce applications.</a:t>
            </a:r>
            <a:endParaRPr/>
          </a:p>
          <a:p>
            <a:pPr indent="0" lvl="0" marL="0" marR="0" rtl="0" algn="just">
              <a:lnSpc>
                <a:spcPct val="150000"/>
              </a:lnSpc>
              <a:spcBef>
                <a:spcPts val="800"/>
              </a:spcBef>
              <a:spcAft>
                <a:spcPts val="0"/>
              </a:spcAft>
              <a:buNone/>
            </a:pPr>
            <a:r>
              <a:rPr lang="en-US" sz="1100">
                <a:solidFill>
                  <a:schemeClr val="dk1"/>
                </a:solidFill>
                <a:latin typeface="Calibri"/>
                <a:ea typeface="Calibri"/>
                <a:cs typeface="Calibri"/>
                <a:sym typeface="Calibri"/>
              </a:rPr>
              <a:t>Discuss future enhancements and areas for further exploration in e-commerce application development using Django.</a:t>
            </a:r>
            <a:endParaRPr sz="1100">
              <a:solidFill>
                <a:schemeClr val="dk1"/>
              </a:solidFill>
              <a:latin typeface="Calibri"/>
              <a:ea typeface="Calibri"/>
              <a:cs typeface="Calibri"/>
              <a:sym typeface="Calibri"/>
            </a:endParaRPr>
          </a:p>
        </p:txBody>
      </p:sp>
    </p:spTree>
  </p:cSld>
  <p:clrMapOvr>
    <a:masterClrMapping/>
  </p:clrMapOvr>
  <p:transition advTm="4000">
    <p:cu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4"/>
          <p:cNvSpPr txBox="1"/>
          <p:nvPr/>
        </p:nvSpPr>
        <p:spPr>
          <a:xfrm>
            <a:off x="467544" y="260648"/>
            <a:ext cx="54006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Methodology</a:t>
            </a:r>
            <a:endParaRPr/>
          </a:p>
        </p:txBody>
      </p:sp>
      <p:sp>
        <p:nvSpPr>
          <p:cNvPr id="67" name="Google Shape;67;p4"/>
          <p:cNvSpPr/>
          <p:nvPr/>
        </p:nvSpPr>
        <p:spPr>
          <a:xfrm>
            <a:off x="35496" y="845422"/>
            <a:ext cx="8928992" cy="6477414"/>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i="0" lang="en-US" sz="1400" u="sng">
                <a:solidFill>
                  <a:srgbClr val="000000"/>
                </a:solidFill>
                <a:latin typeface="Calibri"/>
                <a:ea typeface="Calibri"/>
                <a:cs typeface="Calibri"/>
                <a:sym typeface="Calibri"/>
              </a:rPr>
              <a:t> 1. Requirement Analysis : </a:t>
            </a:r>
            <a:r>
              <a:rPr i="0" lang="en-US" sz="1400">
                <a:solidFill>
                  <a:srgbClr val="000000"/>
                </a:solidFill>
                <a:latin typeface="Calibri"/>
                <a:ea typeface="Calibri"/>
                <a:cs typeface="Calibri"/>
                <a:sym typeface="Calibri"/>
              </a:rPr>
              <a:t>Conduct a comprehensive analysis to understand the specific needs and expectations of the users, including costumers, sellers and buyers. Define the features and functionalities required for post list, activating list, login, registration and wishlist</a:t>
            </a:r>
            <a:endParaRPr i="0" sz="1400">
              <a:solidFill>
                <a:srgbClr val="000000"/>
              </a:solidFill>
              <a:latin typeface="Calibri"/>
              <a:ea typeface="Calibri"/>
              <a:cs typeface="Calibri"/>
              <a:sym typeface="Calibri"/>
            </a:endParaRPr>
          </a:p>
          <a:p>
            <a:pPr indent="0" lvl="0" marL="0" marR="0" rtl="0" algn="just">
              <a:lnSpc>
                <a:spcPct val="150000"/>
              </a:lnSpc>
              <a:spcBef>
                <a:spcPts val="800"/>
              </a:spcBef>
              <a:spcAft>
                <a:spcPts val="0"/>
              </a:spcAft>
              <a:buNone/>
            </a:pPr>
            <a:r>
              <a:rPr i="0" lang="en-US" sz="1400">
                <a:solidFill>
                  <a:srgbClr val="000000"/>
                </a:solidFill>
                <a:latin typeface="Calibri"/>
                <a:ea typeface="Calibri"/>
                <a:cs typeface="Calibri"/>
                <a:sym typeface="Calibri"/>
              </a:rPr>
              <a:t> </a:t>
            </a:r>
            <a:r>
              <a:rPr i="0" lang="en-US" sz="1400" u="sng">
                <a:solidFill>
                  <a:srgbClr val="000000"/>
                </a:solidFill>
                <a:latin typeface="Calibri"/>
                <a:ea typeface="Calibri"/>
                <a:cs typeface="Calibri"/>
                <a:sym typeface="Calibri"/>
              </a:rPr>
              <a:t>2.Design Phase:</a:t>
            </a:r>
            <a:r>
              <a:rPr i="0" lang="en-US" sz="1400">
                <a:solidFill>
                  <a:srgbClr val="000000"/>
                </a:solidFill>
                <a:latin typeface="Calibri"/>
                <a:ea typeface="Calibri"/>
                <a:cs typeface="Calibri"/>
                <a:sym typeface="Calibri"/>
              </a:rPr>
              <a:t> Utilize user-centric design principles to create an intuitive and visually appealing interface for the E-Commerce website. Design wireframes and prototypes to conceptualize the user journey, ensuring seamless navigation and interaction.</a:t>
            </a:r>
            <a:endParaRPr/>
          </a:p>
          <a:p>
            <a:pPr indent="0" lvl="0" marL="0" marR="0" rtl="0" algn="just">
              <a:lnSpc>
                <a:spcPct val="150000"/>
              </a:lnSpc>
              <a:spcBef>
                <a:spcPts val="800"/>
              </a:spcBef>
              <a:spcAft>
                <a:spcPts val="0"/>
              </a:spcAft>
              <a:buNone/>
            </a:pPr>
            <a:r>
              <a:rPr i="0" lang="en-US" sz="1400">
                <a:solidFill>
                  <a:srgbClr val="000000"/>
                </a:solidFill>
                <a:latin typeface="Calibri"/>
                <a:ea typeface="Calibri"/>
                <a:cs typeface="Calibri"/>
                <a:sym typeface="Calibri"/>
              </a:rPr>
              <a:t> </a:t>
            </a:r>
            <a:r>
              <a:rPr i="0" lang="en-US" sz="1400" u="sng">
                <a:solidFill>
                  <a:srgbClr val="000000"/>
                </a:solidFill>
                <a:latin typeface="Calibri"/>
                <a:ea typeface="Calibri"/>
                <a:cs typeface="Calibri"/>
                <a:sym typeface="Calibri"/>
              </a:rPr>
              <a:t>3.Database Design:</a:t>
            </a:r>
            <a:r>
              <a:rPr i="0" lang="en-US" sz="1400">
                <a:solidFill>
                  <a:srgbClr val="000000"/>
                </a:solidFill>
                <a:latin typeface="Calibri"/>
                <a:ea typeface="Calibri"/>
                <a:cs typeface="Calibri"/>
                <a:sym typeface="Calibri"/>
              </a:rPr>
              <a:t> Design a robust database schema to store user information, lists, and related metadata. Choose appropriate database technologies to ensure scalability, performance, and data integrity</a:t>
            </a:r>
            <a:endParaRPr/>
          </a:p>
          <a:p>
            <a:pPr indent="0" lvl="0" marL="0" marR="0" rtl="0" algn="just">
              <a:lnSpc>
                <a:spcPct val="150000"/>
              </a:lnSpc>
              <a:spcBef>
                <a:spcPts val="800"/>
              </a:spcBef>
              <a:spcAft>
                <a:spcPts val="0"/>
              </a:spcAft>
              <a:buNone/>
            </a:pPr>
            <a:r>
              <a:rPr i="0" lang="en-US" sz="1400">
                <a:solidFill>
                  <a:srgbClr val="000000"/>
                </a:solidFill>
                <a:latin typeface="Calibri"/>
                <a:ea typeface="Calibri"/>
                <a:cs typeface="Calibri"/>
                <a:sym typeface="Calibri"/>
              </a:rPr>
              <a:t> </a:t>
            </a:r>
            <a:r>
              <a:rPr i="0" lang="en-US" sz="1400" u="sng">
                <a:solidFill>
                  <a:srgbClr val="000000"/>
                </a:solidFill>
                <a:latin typeface="Calibri"/>
                <a:ea typeface="Calibri"/>
                <a:cs typeface="Calibri"/>
                <a:sym typeface="Calibri"/>
              </a:rPr>
              <a:t>4.Backend Development:</a:t>
            </a:r>
            <a:r>
              <a:rPr i="0" lang="en-US" sz="1400">
                <a:solidFill>
                  <a:srgbClr val="000000"/>
                </a:solidFill>
                <a:latin typeface="Calibri"/>
                <a:ea typeface="Calibri"/>
                <a:cs typeface="Calibri"/>
                <a:sym typeface="Calibri"/>
              </a:rPr>
              <a:t> Implement the backend logic using Django, leveraging its powerful features such as models, views, and serializers. Develop APIs for note creation, retrieval, deletion, and editing, adhering to RESTful principles for interoperability and scalability.</a:t>
            </a:r>
            <a:endParaRPr sz="14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i="0" lang="en-US" sz="1400">
                <a:solidFill>
                  <a:srgbClr val="000000"/>
                </a:solidFill>
                <a:latin typeface="Calibri"/>
                <a:ea typeface="Calibri"/>
                <a:cs typeface="Calibri"/>
                <a:sym typeface="Calibri"/>
              </a:rPr>
              <a:t> </a:t>
            </a:r>
            <a:r>
              <a:rPr i="0" lang="en-US" sz="1400" u="sng">
                <a:solidFill>
                  <a:srgbClr val="000000"/>
                </a:solidFill>
                <a:latin typeface="Calibri"/>
                <a:ea typeface="Calibri"/>
                <a:cs typeface="Calibri"/>
                <a:sym typeface="Calibri"/>
              </a:rPr>
              <a:t>5.Frontend Development:</a:t>
            </a:r>
            <a:r>
              <a:rPr i="0" lang="en-US" sz="1400">
                <a:solidFill>
                  <a:srgbClr val="000000"/>
                </a:solidFill>
                <a:latin typeface="Calibri"/>
                <a:ea typeface="Calibri"/>
                <a:cs typeface="Calibri"/>
                <a:sym typeface="Calibri"/>
              </a:rPr>
              <a:t> Develop the frontend components using HTML, CSS, and JavaScript frameworks such as React or Vue.js. Implement interactive interfaces for entering, deleting, and editing </a:t>
            </a:r>
            <a:r>
              <a:rPr lang="en-US" sz="1400">
                <a:solidFill>
                  <a:srgbClr val="000000"/>
                </a:solidFill>
                <a:latin typeface="Calibri"/>
                <a:ea typeface="Calibri"/>
                <a:cs typeface="Calibri"/>
                <a:sym typeface="Calibri"/>
              </a:rPr>
              <a:t>list</a:t>
            </a:r>
            <a:r>
              <a:rPr i="0" lang="en-US" sz="1400">
                <a:solidFill>
                  <a:srgbClr val="000000"/>
                </a:solidFill>
                <a:latin typeface="Calibri"/>
                <a:ea typeface="Calibri"/>
                <a:cs typeface="Calibri"/>
                <a:sym typeface="Calibri"/>
              </a:rPr>
              <a:t>s of products, incorporating feedback mechanisms for user engagement.</a:t>
            </a:r>
            <a:endParaRPr sz="14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lang="en-US" sz="1400" u="sng">
                <a:solidFill>
                  <a:srgbClr val="000000"/>
                </a:solidFill>
                <a:latin typeface="Calibri"/>
                <a:ea typeface="Calibri"/>
                <a:cs typeface="Calibri"/>
                <a:sym typeface="Calibri"/>
              </a:rPr>
              <a:t>6.</a:t>
            </a:r>
            <a:r>
              <a:rPr i="0" lang="en-US" sz="1400" u="sng">
                <a:solidFill>
                  <a:srgbClr val="000000"/>
                </a:solidFill>
                <a:latin typeface="Calibri"/>
                <a:ea typeface="Calibri"/>
                <a:cs typeface="Calibri"/>
                <a:sym typeface="Calibri"/>
              </a:rPr>
              <a:t>Authentication and Authorization:</a:t>
            </a:r>
            <a:r>
              <a:rPr i="0" lang="en-US" sz="1400">
                <a:solidFill>
                  <a:srgbClr val="000000"/>
                </a:solidFill>
                <a:latin typeface="Calibri"/>
                <a:ea typeface="Calibri"/>
                <a:cs typeface="Calibri"/>
                <a:sym typeface="Calibri"/>
              </a:rPr>
              <a:t> Implement a secure authentication system using Django's built-in authentication framework. Define role-based access controls to ensure that only authorized users can perform note-related actions.</a:t>
            </a:r>
            <a:endParaRPr sz="14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i="0" lang="en-US" sz="1400">
                <a:solidFill>
                  <a:srgbClr val="000000"/>
                </a:solidFill>
                <a:latin typeface="Calibri"/>
                <a:ea typeface="Calibri"/>
                <a:cs typeface="Calibri"/>
                <a:sym typeface="Calibri"/>
              </a:rPr>
              <a:t> </a:t>
            </a:r>
            <a:endParaRPr sz="1400">
              <a:solidFill>
                <a:schemeClr val="dk1"/>
              </a:solidFill>
              <a:latin typeface="Calibri"/>
              <a:ea typeface="Calibri"/>
              <a:cs typeface="Calibri"/>
              <a:sym typeface="Calibri"/>
            </a:endParaRPr>
          </a:p>
          <a:p>
            <a:pPr indent="-215900" lvl="1" marL="742950" marR="0" rtl="0" algn="just">
              <a:lnSpc>
                <a:spcPct val="107000"/>
              </a:lnSpc>
              <a:spcBef>
                <a:spcPts val="80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p:txBody>
      </p:sp>
    </p:spTree>
  </p:cSld>
  <p:clrMapOvr>
    <a:masterClrMapping/>
  </p:clrMapOvr>
  <p:transition advTm="4000">
    <p:c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5"/>
          <p:cNvSpPr txBox="1"/>
          <p:nvPr/>
        </p:nvSpPr>
        <p:spPr>
          <a:xfrm>
            <a:off x="467544" y="260648"/>
            <a:ext cx="54006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Tools and Technologies</a:t>
            </a:r>
            <a:endParaRPr/>
          </a:p>
        </p:txBody>
      </p:sp>
      <p:sp>
        <p:nvSpPr>
          <p:cNvPr id="73" name="Google Shape;73;p5"/>
          <p:cNvSpPr/>
          <p:nvPr/>
        </p:nvSpPr>
        <p:spPr>
          <a:xfrm>
            <a:off x="107504" y="1052736"/>
            <a:ext cx="8928992" cy="6145272"/>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i="0" lang="en-US" sz="1400">
                <a:solidFill>
                  <a:srgbClr val="000000"/>
                </a:solidFill>
                <a:latin typeface="Calibri"/>
                <a:ea typeface="Calibri"/>
                <a:cs typeface="Calibri"/>
                <a:sym typeface="Calibri"/>
              </a:rPr>
              <a:t>For the E-commerce website project, several tools, technologies, and terminologies are essential for its development and deployment. Here's a list:</a:t>
            </a:r>
            <a:endParaRPr sz="14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i="0" lang="en-US" sz="1400">
                <a:solidFill>
                  <a:srgbClr val="000000"/>
                </a:solidFill>
                <a:latin typeface="Calibri"/>
                <a:ea typeface="Calibri"/>
                <a:cs typeface="Calibri"/>
                <a:sym typeface="Calibri"/>
              </a:rPr>
              <a:t>Django: A high-level Python web framework that facilitates rapid development and clean, pragmatic design. Django provides a robust foundation for building web applications, including features such as authentication, URL routing, and database integration.</a:t>
            </a:r>
            <a:endParaRPr sz="14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i="0" lang="en-US" sz="1400">
                <a:solidFill>
                  <a:srgbClr val="000000"/>
                </a:solidFill>
                <a:latin typeface="Calibri"/>
                <a:ea typeface="Calibri"/>
                <a:cs typeface="Calibri"/>
                <a:sym typeface="Calibri"/>
              </a:rPr>
              <a:t>HTML, CSS, JavaScript: Fundamental web development technologies used for creating the frontend interface of the E-commerce website. HTML defines the structure of web pages, CSS styles the layout and appearance, and JavaScript adds interactivity and dynamic behavior.</a:t>
            </a:r>
            <a:endParaRPr sz="14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i="0" lang="en-US" sz="1400">
                <a:solidFill>
                  <a:srgbClr val="000000"/>
                </a:solidFill>
                <a:latin typeface="Calibri"/>
                <a:ea typeface="Calibri"/>
                <a:cs typeface="Calibri"/>
                <a:sym typeface="Calibri"/>
              </a:rPr>
              <a:t>Python: Python is a high-level, interpreted programming language known for its simplicity and readability. It offers a vast ecosystem of libraries and frameworks, making it suitable for various applications, including web development. In the context of the E-commerce website project , Python serves as the primary language for backend development using the Django web framework.</a:t>
            </a:r>
            <a:endParaRPr sz="14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i="0" lang="en-US" sz="1400">
                <a:solidFill>
                  <a:srgbClr val="000000"/>
                </a:solidFill>
                <a:latin typeface="Calibri"/>
                <a:ea typeface="Calibri"/>
                <a:cs typeface="Calibri"/>
                <a:sym typeface="Calibri"/>
              </a:rPr>
              <a:t> SQLite: SQLite is a lightweight, serverless, relational database management system (RDBMS) that is embedded directly into the application. It provides a self-contained, file-based database engine, eliminating the need for a separate database server. SQLite is widely used in applications that require a local or small-scale database, such as mobile apps and desktop software.</a:t>
            </a:r>
            <a:endParaRPr sz="1400">
              <a:solidFill>
                <a:schemeClr val="dk1"/>
              </a:solidFill>
              <a:latin typeface="Calibri"/>
              <a:ea typeface="Calibri"/>
              <a:cs typeface="Calibri"/>
              <a:sym typeface="Calibri"/>
            </a:endParaRPr>
          </a:p>
          <a:p>
            <a:pPr indent="0" lvl="0" marL="0" marR="0" rtl="0" algn="l">
              <a:spcBef>
                <a:spcPts val="80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transition advTm="4000">
    <p:cu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7"/>
          <p:cNvSpPr txBox="1"/>
          <p:nvPr/>
        </p:nvSpPr>
        <p:spPr>
          <a:xfrm>
            <a:off x="467544" y="260648"/>
            <a:ext cx="54006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Findings</a:t>
            </a:r>
            <a:endParaRPr/>
          </a:p>
        </p:txBody>
      </p:sp>
      <p:pic>
        <p:nvPicPr>
          <p:cNvPr id="79" name="Google Shape;79;p7"/>
          <p:cNvPicPr preferRelativeResize="0"/>
          <p:nvPr/>
        </p:nvPicPr>
        <p:blipFill rotWithShape="1">
          <a:blip r:embed="rId3">
            <a:alphaModFix/>
          </a:blip>
          <a:srcRect b="0" l="0" r="0" t="0"/>
          <a:stretch/>
        </p:blipFill>
        <p:spPr>
          <a:xfrm>
            <a:off x="395536" y="825472"/>
            <a:ext cx="7042219" cy="2891560"/>
          </a:xfrm>
          <a:prstGeom prst="rect">
            <a:avLst/>
          </a:prstGeom>
          <a:noFill/>
          <a:ln>
            <a:noFill/>
          </a:ln>
        </p:spPr>
      </p:pic>
      <p:pic>
        <p:nvPicPr>
          <p:cNvPr id="80" name="Google Shape;80;p7"/>
          <p:cNvPicPr preferRelativeResize="0"/>
          <p:nvPr/>
        </p:nvPicPr>
        <p:blipFill rotWithShape="1">
          <a:blip r:embed="rId4">
            <a:alphaModFix/>
          </a:blip>
          <a:srcRect b="0" l="0" r="0" t="0"/>
          <a:stretch/>
        </p:blipFill>
        <p:spPr>
          <a:xfrm>
            <a:off x="1050890" y="3943788"/>
            <a:ext cx="5731510" cy="2069465"/>
          </a:xfrm>
          <a:prstGeom prst="rect">
            <a:avLst/>
          </a:prstGeom>
          <a:noFill/>
          <a:ln>
            <a:noFill/>
          </a:ln>
        </p:spPr>
      </p:pic>
    </p:spTree>
  </p:cSld>
  <p:clrMapOvr>
    <a:masterClrMapping/>
  </p:clrMapOvr>
  <p:transition advTm="4000">
    <p:c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8"/>
          <p:cNvSpPr txBox="1"/>
          <p:nvPr/>
        </p:nvSpPr>
        <p:spPr>
          <a:xfrm>
            <a:off x="467544" y="260648"/>
            <a:ext cx="54006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Findings</a:t>
            </a:r>
            <a:endParaRPr/>
          </a:p>
        </p:txBody>
      </p:sp>
      <p:pic>
        <p:nvPicPr>
          <p:cNvPr id="86" name="Google Shape;86;p8"/>
          <p:cNvPicPr preferRelativeResize="0"/>
          <p:nvPr/>
        </p:nvPicPr>
        <p:blipFill rotWithShape="1">
          <a:blip r:embed="rId3">
            <a:alphaModFix/>
          </a:blip>
          <a:srcRect b="0" l="0" r="0" t="0"/>
          <a:stretch/>
        </p:blipFill>
        <p:spPr>
          <a:xfrm>
            <a:off x="0" y="822993"/>
            <a:ext cx="5731510" cy="2917190"/>
          </a:xfrm>
          <a:prstGeom prst="rect">
            <a:avLst/>
          </a:prstGeom>
          <a:noFill/>
          <a:ln>
            <a:noFill/>
          </a:ln>
        </p:spPr>
      </p:pic>
      <p:pic>
        <p:nvPicPr>
          <p:cNvPr id="87" name="Google Shape;87;p8"/>
          <p:cNvPicPr preferRelativeResize="0"/>
          <p:nvPr/>
        </p:nvPicPr>
        <p:blipFill rotWithShape="1">
          <a:blip r:embed="rId4">
            <a:alphaModFix/>
          </a:blip>
          <a:srcRect b="0" l="0" r="0" t="0"/>
          <a:stretch/>
        </p:blipFill>
        <p:spPr>
          <a:xfrm>
            <a:off x="2771800" y="3861048"/>
            <a:ext cx="5731510" cy="2844165"/>
          </a:xfrm>
          <a:prstGeom prst="rect">
            <a:avLst/>
          </a:prstGeom>
          <a:noFill/>
          <a:ln>
            <a:noFill/>
          </a:ln>
        </p:spPr>
      </p:pic>
    </p:spTree>
  </p:cSld>
  <p:clrMapOvr>
    <a:masterClrMapping/>
  </p:clrMapOvr>
  <p:transition advTm="4000">
    <p:c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9"/>
          <p:cNvSpPr txBox="1"/>
          <p:nvPr/>
        </p:nvSpPr>
        <p:spPr>
          <a:xfrm>
            <a:off x="467544" y="260648"/>
            <a:ext cx="54006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Findings</a:t>
            </a:r>
            <a:endParaRPr/>
          </a:p>
        </p:txBody>
      </p:sp>
      <p:pic>
        <p:nvPicPr>
          <p:cNvPr id="93" name="Google Shape;93;p9"/>
          <p:cNvPicPr preferRelativeResize="0"/>
          <p:nvPr/>
        </p:nvPicPr>
        <p:blipFill rotWithShape="1">
          <a:blip r:embed="rId3">
            <a:alphaModFix/>
          </a:blip>
          <a:srcRect b="0" l="0" r="0" t="0"/>
          <a:stretch/>
        </p:blipFill>
        <p:spPr>
          <a:xfrm>
            <a:off x="1475656" y="2060848"/>
            <a:ext cx="5731510" cy="2377440"/>
          </a:xfrm>
          <a:prstGeom prst="rect">
            <a:avLst/>
          </a:prstGeom>
          <a:noFill/>
          <a:ln>
            <a:noFill/>
          </a:ln>
        </p:spPr>
      </p:pic>
    </p:spTree>
  </p:cSld>
  <p:clrMapOvr>
    <a:masterClrMapping/>
  </p:clrMapOvr>
  <p:transition advTm="4000">
    <p:cu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0"/>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sz="3000"/>
              <a:t>CONCLUSION AND FUTURE SCOPE</a:t>
            </a:r>
            <a:endParaRPr sz="3000"/>
          </a:p>
        </p:txBody>
      </p:sp>
      <p:sp>
        <p:nvSpPr>
          <p:cNvPr id="99" name="Google Shape;99;p10"/>
          <p:cNvSpPr txBox="1"/>
          <p:nvPr>
            <p:ph idx="1" type="body"/>
          </p:nvPr>
        </p:nvSpPr>
        <p:spPr>
          <a:xfrm>
            <a:off x="0" y="1052736"/>
            <a:ext cx="9036496" cy="54006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400"/>
              <a:buNone/>
            </a:pPr>
            <a:r>
              <a:rPr lang="en-US" sz="1400">
                <a:latin typeface="Calibri"/>
                <a:ea typeface="Calibri"/>
                <a:cs typeface="Calibri"/>
                <a:sym typeface="Calibri"/>
              </a:rPr>
              <a:t>The E-commerce project, built with Django, Python, SQLite, and compatible with Microsoft Edge, marks a significant advancement in digital education. By offering a platform for entering, editing, and deleting list of products, it addresses the evolving needs of customers  and sellers in an increasingly digital world. Leveraging the power of Django's robust backend framework, Python's simplicity, SQLite's efficiency, and Microsoft Edge's modern browsing capabilities, the project provides a seamless and user-friendly experience for managing industrial materials.</a:t>
            </a:r>
            <a:endParaRPr sz="1400">
              <a:latin typeface="Calibri"/>
              <a:ea typeface="Calibri"/>
              <a:cs typeface="Calibri"/>
              <a:sym typeface="Calibri"/>
            </a:endParaRPr>
          </a:p>
          <a:p>
            <a:pPr indent="0" lvl="0" marL="0" marR="0" rtl="0" algn="just">
              <a:lnSpc>
                <a:spcPct val="150000"/>
              </a:lnSpc>
              <a:spcBef>
                <a:spcPts val="800"/>
              </a:spcBef>
              <a:spcAft>
                <a:spcPts val="0"/>
              </a:spcAft>
              <a:buClr>
                <a:schemeClr val="dk1"/>
              </a:buClr>
              <a:buSzPts val="1400"/>
              <a:buNone/>
            </a:pPr>
            <a:r>
              <a:t/>
            </a:r>
            <a:endParaRPr sz="1400" u="sng">
              <a:latin typeface="Calibri"/>
              <a:ea typeface="Calibri"/>
              <a:cs typeface="Calibri"/>
              <a:sym typeface="Calibri"/>
            </a:endParaRPr>
          </a:p>
          <a:p>
            <a:pPr indent="0" lvl="0" marL="0" marR="0" rtl="0" algn="just">
              <a:lnSpc>
                <a:spcPct val="150000"/>
              </a:lnSpc>
              <a:spcBef>
                <a:spcPts val="800"/>
              </a:spcBef>
              <a:spcAft>
                <a:spcPts val="0"/>
              </a:spcAft>
              <a:buClr>
                <a:schemeClr val="dk1"/>
              </a:buClr>
              <a:buSzPts val="1400"/>
              <a:buNone/>
            </a:pPr>
            <a:r>
              <a:rPr lang="en-US" sz="1400" u="sng">
                <a:latin typeface="Calibri"/>
                <a:ea typeface="Calibri"/>
                <a:cs typeface="Calibri"/>
                <a:sym typeface="Calibri"/>
              </a:rPr>
              <a:t>Scope</a:t>
            </a:r>
            <a:r>
              <a:rPr lang="en-US" sz="1400">
                <a:latin typeface="Calibri"/>
                <a:ea typeface="Calibri"/>
                <a:cs typeface="Calibri"/>
                <a:sym typeface="Calibri"/>
              </a:rPr>
              <a:t>  : The scope of the E-commerce website project extends beyond its initial implementation. Here are some potential avenues for further development and enhancement:</a:t>
            </a:r>
            <a:endParaRPr sz="1400">
              <a:latin typeface="Calibri"/>
              <a:ea typeface="Calibri"/>
              <a:cs typeface="Calibri"/>
              <a:sym typeface="Calibri"/>
            </a:endParaRPr>
          </a:p>
          <a:p>
            <a:pPr indent="0" lvl="0" marL="0" marR="0" rtl="0" algn="just">
              <a:lnSpc>
                <a:spcPct val="150000"/>
              </a:lnSpc>
              <a:spcBef>
                <a:spcPts val="800"/>
              </a:spcBef>
              <a:spcAft>
                <a:spcPts val="0"/>
              </a:spcAft>
              <a:buClr>
                <a:schemeClr val="dk1"/>
              </a:buClr>
              <a:buSzPts val="1400"/>
              <a:buNone/>
            </a:pPr>
            <a:r>
              <a:rPr lang="en-US" sz="1400" u="sng">
                <a:latin typeface="Calibri"/>
                <a:ea typeface="Calibri"/>
                <a:cs typeface="Calibri"/>
                <a:sym typeface="Calibri"/>
              </a:rPr>
              <a:t>1.Additional Features:</a:t>
            </a:r>
            <a:r>
              <a:rPr lang="en-US" sz="1400">
                <a:latin typeface="Calibri"/>
                <a:ea typeface="Calibri"/>
                <a:cs typeface="Calibri"/>
                <a:sym typeface="Calibri"/>
              </a:rPr>
              <a:t> Expand the functionality of the E-commerce website platform by incorporating features such as text formatting options, multimedia support, offline access, and integration with third-party services like Google Drive or Dropbox.</a:t>
            </a:r>
            <a:endParaRPr sz="1400">
              <a:latin typeface="Calibri"/>
              <a:ea typeface="Calibri"/>
              <a:cs typeface="Calibri"/>
              <a:sym typeface="Calibri"/>
            </a:endParaRPr>
          </a:p>
          <a:p>
            <a:pPr indent="0" lvl="0" marL="0" marR="0" rtl="0" algn="just">
              <a:lnSpc>
                <a:spcPct val="150000"/>
              </a:lnSpc>
              <a:spcBef>
                <a:spcPts val="800"/>
              </a:spcBef>
              <a:spcAft>
                <a:spcPts val="0"/>
              </a:spcAft>
              <a:buClr>
                <a:schemeClr val="dk1"/>
              </a:buClr>
              <a:buSzPts val="1400"/>
              <a:buNone/>
            </a:pPr>
            <a:r>
              <a:rPr lang="en-US" sz="1400" u="sng">
                <a:latin typeface="Calibri"/>
                <a:ea typeface="Calibri"/>
                <a:cs typeface="Calibri"/>
                <a:sym typeface="Calibri"/>
              </a:rPr>
              <a:t>2.Enhanced Collaboration:</a:t>
            </a:r>
            <a:r>
              <a:rPr lang="en-US" sz="1400">
                <a:latin typeface="Calibri"/>
                <a:ea typeface="Calibri"/>
                <a:cs typeface="Calibri"/>
                <a:sym typeface="Calibri"/>
              </a:rPr>
              <a:t> Introduce real-time collaboration features, including simultaneous editing,  functionality, and version control, to facilitate seamless collaboration among users.</a:t>
            </a:r>
            <a:endParaRPr sz="1400">
              <a:latin typeface="Calibri"/>
              <a:ea typeface="Calibri"/>
              <a:cs typeface="Calibri"/>
              <a:sym typeface="Calibri"/>
            </a:endParaRPr>
          </a:p>
          <a:p>
            <a:pPr indent="0" lvl="0" marL="0" marR="0" rtl="0" algn="just">
              <a:lnSpc>
                <a:spcPct val="150000"/>
              </a:lnSpc>
              <a:spcBef>
                <a:spcPts val="800"/>
              </a:spcBef>
              <a:spcAft>
                <a:spcPts val="0"/>
              </a:spcAft>
              <a:buClr>
                <a:schemeClr val="dk1"/>
              </a:buClr>
              <a:buSzPts val="1400"/>
              <a:buNone/>
            </a:pPr>
            <a:r>
              <a:rPr lang="en-US" sz="1400" u="sng">
                <a:latin typeface="Calibri"/>
                <a:ea typeface="Calibri"/>
                <a:cs typeface="Calibri"/>
                <a:sym typeface="Calibri"/>
              </a:rPr>
              <a:t>3.Mobile Accessibility:</a:t>
            </a:r>
            <a:r>
              <a:rPr lang="en-US" sz="1400">
                <a:latin typeface="Calibri"/>
                <a:ea typeface="Calibri"/>
                <a:cs typeface="Calibri"/>
                <a:sym typeface="Calibri"/>
              </a:rPr>
              <a:t> Develop mobile applications for iOS and Android platforms, allowing users to access and manage their notes on the go using their smartphones or tablets.</a:t>
            </a:r>
            <a:endParaRPr sz="1400">
              <a:latin typeface="Calibri"/>
              <a:ea typeface="Calibri"/>
              <a:cs typeface="Calibri"/>
              <a:sym typeface="Calibri"/>
            </a:endParaRPr>
          </a:p>
          <a:p>
            <a:pPr indent="0" lvl="0" marL="0" rtl="0" algn="l">
              <a:spcBef>
                <a:spcPts val="1240"/>
              </a:spcBef>
              <a:spcAft>
                <a:spcPts val="0"/>
              </a:spcAft>
              <a:buClr>
                <a:schemeClr val="dk1"/>
              </a:buClr>
              <a:buSzPts val="2200"/>
              <a:buNone/>
            </a:pPr>
            <a:r>
              <a:t/>
            </a:r>
            <a:endParaRPr b="1"/>
          </a:p>
        </p:txBody>
      </p:sp>
    </p:spTree>
  </p:cSld>
  <p:clrMapOvr>
    <a:masterClrMapping/>
  </p:clrMapOvr>
  <p:transition advTm="4000">
    <p:cut/>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1"/>
          <p:cNvSpPr txBox="1"/>
          <p:nvPr/>
        </p:nvSpPr>
        <p:spPr>
          <a:xfrm>
            <a:off x="467544" y="260648"/>
            <a:ext cx="54006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Times New Roman"/>
                <a:ea typeface="Times New Roman"/>
                <a:cs typeface="Times New Roman"/>
                <a:sym typeface="Times New Roman"/>
              </a:rPr>
              <a:t>References</a:t>
            </a:r>
            <a:endParaRPr/>
          </a:p>
        </p:txBody>
      </p:sp>
      <p:sp>
        <p:nvSpPr>
          <p:cNvPr id="105" name="Google Shape;105;p11"/>
          <p:cNvSpPr/>
          <p:nvPr/>
        </p:nvSpPr>
        <p:spPr>
          <a:xfrm>
            <a:off x="35496" y="1196752"/>
            <a:ext cx="8928992" cy="613026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1400" u="sng">
                <a:solidFill>
                  <a:schemeClr val="dk1"/>
                </a:solidFill>
                <a:latin typeface="Calibri"/>
                <a:ea typeface="Calibri"/>
                <a:cs typeface="Calibri"/>
                <a:sym typeface="Calibri"/>
              </a:rPr>
              <a:t>1. Django Documentation: </a:t>
            </a:r>
            <a:r>
              <a:rPr lang="en-US" sz="1400">
                <a:solidFill>
                  <a:schemeClr val="dk1"/>
                </a:solidFill>
                <a:latin typeface="Calibri"/>
                <a:ea typeface="Calibri"/>
                <a:cs typeface="Calibri"/>
                <a:sym typeface="Calibri"/>
              </a:rPr>
              <a:t>The official Django documentation provides comprehensive guides, tutorials, and references for building web applications with Django. It covers topics such as models, views, templates, forms, authentication, and deployment.</a:t>
            </a:r>
            <a:endParaRPr sz="14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lang="en-US" sz="1400" u="sng">
                <a:solidFill>
                  <a:schemeClr val="dk1"/>
                </a:solidFill>
                <a:latin typeface="Calibri"/>
                <a:ea typeface="Calibri"/>
                <a:cs typeface="Calibri"/>
                <a:sym typeface="Calibri"/>
              </a:rPr>
              <a:t>2. Python Documentation:</a:t>
            </a:r>
            <a:r>
              <a:rPr lang="en-US" sz="1400">
                <a:solidFill>
                  <a:schemeClr val="dk1"/>
                </a:solidFill>
                <a:latin typeface="Calibri"/>
                <a:ea typeface="Calibri"/>
                <a:cs typeface="Calibri"/>
                <a:sym typeface="Calibri"/>
              </a:rPr>
              <a:t> The Python documentation offers detailed information about the Python programming language, including syntax, data structures, standard libraries, and best practices. It serves as a valuable resource for understanding Python's features and capabilities.</a:t>
            </a:r>
            <a:endParaRPr sz="14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lang="en-US" sz="1400" u="sng">
                <a:solidFill>
                  <a:schemeClr val="dk1"/>
                </a:solidFill>
                <a:latin typeface="Calibri"/>
                <a:ea typeface="Calibri"/>
                <a:cs typeface="Calibri"/>
                <a:sym typeface="Calibri"/>
              </a:rPr>
              <a:t>3. SQLite Documentation:</a:t>
            </a:r>
            <a:r>
              <a:rPr lang="en-US" sz="1400">
                <a:solidFill>
                  <a:schemeClr val="dk1"/>
                </a:solidFill>
                <a:latin typeface="Calibri"/>
                <a:ea typeface="Calibri"/>
                <a:cs typeface="Calibri"/>
                <a:sym typeface="Calibri"/>
              </a:rPr>
              <a:t> The SQLite documentation provides documentation on using SQLite, including SQL syntax, data types, query optimization, and administration. It offers insights into leveraging SQLite effectively for database management in Django projects.</a:t>
            </a:r>
            <a:endParaRPr sz="14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lang="en-US" sz="1400" u="sng">
                <a:solidFill>
                  <a:schemeClr val="dk1"/>
                </a:solidFill>
                <a:latin typeface="Calibri"/>
                <a:ea typeface="Calibri"/>
                <a:cs typeface="Calibri"/>
                <a:sym typeface="Calibri"/>
              </a:rPr>
              <a:t>4. Microsoft Edge Developer Documentation:</a:t>
            </a:r>
            <a:r>
              <a:rPr lang="en-US" sz="1400">
                <a:solidFill>
                  <a:schemeClr val="dk1"/>
                </a:solidFill>
                <a:latin typeface="Calibri"/>
                <a:ea typeface="Calibri"/>
                <a:cs typeface="Calibri"/>
                <a:sym typeface="Calibri"/>
              </a:rPr>
              <a:t> The Microsoft Edge developer documentation offers resources and guides for web developers targeting the Edge browser. It covers topics such as web standards, browser compatibility, developer tools, and best practices for web development.</a:t>
            </a:r>
            <a:endParaRPr sz="14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lang="en-US" sz="1400" u="sng">
                <a:solidFill>
                  <a:schemeClr val="dk1"/>
                </a:solidFill>
                <a:latin typeface="Calibri"/>
                <a:ea typeface="Calibri"/>
                <a:cs typeface="Calibri"/>
                <a:sym typeface="Calibri"/>
              </a:rPr>
              <a:t>5. Web Development Books and Tutorials:</a:t>
            </a:r>
            <a:r>
              <a:rPr lang="en-US" sz="1400">
                <a:solidFill>
                  <a:schemeClr val="dk1"/>
                </a:solidFill>
                <a:latin typeface="Calibri"/>
                <a:ea typeface="Calibri"/>
                <a:cs typeface="Calibri"/>
                <a:sym typeface="Calibri"/>
              </a:rPr>
              <a:t> Various books and online tutorials cover web development concepts, frameworks, and technologies such as Django, Python, SQLite, and frontend development (HTML, CSS, JavaScript). These resources can provide in-depth insights and practical examples for building web applications.</a:t>
            </a:r>
            <a:endParaRPr sz="1400">
              <a:solidFill>
                <a:schemeClr val="dk1"/>
              </a:solidFill>
              <a:latin typeface="Calibri"/>
              <a:ea typeface="Calibri"/>
              <a:cs typeface="Calibri"/>
              <a:sym typeface="Calibri"/>
            </a:endParaRPr>
          </a:p>
          <a:p>
            <a:pPr indent="0" lvl="0" marL="0" marR="0" rtl="0" algn="just">
              <a:lnSpc>
                <a:spcPct val="150000"/>
              </a:lnSpc>
              <a:spcBef>
                <a:spcPts val="800"/>
              </a:spcBef>
              <a:spcAft>
                <a:spcPts val="0"/>
              </a:spcAft>
              <a:buNone/>
            </a:pPr>
            <a:r>
              <a:rPr b="1" lang="en-US" sz="1400">
                <a:solidFill>
                  <a:schemeClr val="dk1"/>
                </a:solidFill>
                <a:latin typeface="Calibri"/>
                <a:ea typeface="Calibri"/>
                <a:cs typeface="Calibri"/>
                <a:sym typeface="Calibri"/>
              </a:rPr>
              <a:t> </a:t>
            </a:r>
            <a:endParaRPr sz="1400">
              <a:solidFill>
                <a:schemeClr val="dk1"/>
              </a:solidFill>
              <a:latin typeface="Calibri"/>
              <a:ea typeface="Calibri"/>
              <a:cs typeface="Calibri"/>
              <a:sym typeface="Calibri"/>
            </a:endParaRPr>
          </a:p>
          <a:p>
            <a:pPr indent="-241300" lvl="0" marL="342900" marR="0" rtl="0" algn="just">
              <a:lnSpc>
                <a:spcPct val="107000"/>
              </a:lnSpc>
              <a:spcBef>
                <a:spcPts val="80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p:txBody>
      </p:sp>
    </p:spTree>
  </p:cSld>
  <p:clrMapOvr>
    <a:masterClrMapping/>
  </p:clrMapOvr>
  <p:transition advTm="4000">
    <p:cut/>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descr="Download The Best Thank You Slide For PPT Presentation" id="110" name="Google Shape;110;p1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ownload The Best Thank You Slide For PPT Presentation" id="111" name="Google Shape;111;p1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Download The Best Thank You Slide For PPT Presentation" id="112" name="Google Shape;112;p12"/>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Thank you cards Images | Free Vectors, Stock Photos &amp; PSD" id="113" name="Google Shape;113;p12"/>
          <p:cNvPicPr preferRelativeResize="0"/>
          <p:nvPr/>
        </p:nvPicPr>
        <p:blipFill rotWithShape="1">
          <a:blip r:embed="rId3">
            <a:alphaModFix/>
          </a:blip>
          <a:srcRect b="0" l="0" r="0" t="0"/>
          <a:stretch/>
        </p:blipFill>
        <p:spPr>
          <a:xfrm>
            <a:off x="0" y="857232"/>
            <a:ext cx="9144000" cy="5786478"/>
          </a:xfrm>
          <a:prstGeom prst="rect">
            <a:avLst/>
          </a:prstGeom>
          <a:noFill/>
          <a:ln>
            <a:noFill/>
          </a:ln>
        </p:spPr>
      </p:pic>
    </p:spTree>
  </p:cSld>
  <p:clrMapOvr>
    <a:masterClrMapping/>
  </p:clrMapOvr>
  <p:transition advTm="4000">
    <p:cut/>
  </p:transition>
</p:sld>
</file>

<file path=ppt/theme/theme1.xml><?xml version="1.0" encoding="utf-8"?>
<a:theme xmlns:a="http://schemas.openxmlformats.org/drawingml/2006/main" xmlns:r="http://schemas.openxmlformats.org/officeDocument/2006/relationships" name="Bubble Sort">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2022-12-12T14:14:34Z</dcterms:created>
  <dc:creator>abc</dc:creator>
</cp:coreProperties>
</file>